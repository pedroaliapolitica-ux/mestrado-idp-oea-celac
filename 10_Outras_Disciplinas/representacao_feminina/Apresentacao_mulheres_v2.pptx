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4" r:id="rId4"/>
    <p:sldId id="258" r:id="rId5"/>
    <p:sldId id="259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5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1" autoAdjust="0"/>
    <p:restoredTop sz="94547"/>
  </p:normalViewPr>
  <p:slideViewPr>
    <p:cSldViewPr snapToGrid="0">
      <p:cViewPr varScale="1">
        <p:scale>
          <a:sx n="92" d="100"/>
          <a:sy n="92" d="100"/>
        </p:scale>
        <p:origin x="12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54D2D-B480-D946-8924-3D6AACD61D34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0A476-FFBB-3B43-ADE4-5BA9CB08E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83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839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179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131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930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476-FFBB-3B43-ADE4-5BA9CB08ECF3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469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74AF5A-9269-EFF7-6684-20C8302AD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68662A-BEBF-C5C8-B36C-1922BC353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569A57-0D35-7CAD-7CF5-0D11555F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B3A7A2-BDD9-6659-C20C-AFDEF25D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0ED902-DF80-31D4-798E-E74FBE5D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185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10479-79B8-AB7C-2F77-E8BABC11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5056F3-5B5D-1BD6-0A3E-FA378727A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AD338E-8967-CEA7-056F-D31455624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FD8277-CCC1-BF67-265C-54AB1944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C3847F-E176-E4EC-B10F-C0AFB79E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730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ADD3F-D8D0-928C-AA9F-A115DDD4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1CAA76-E64F-3841-0488-12E603479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E319CD-65BA-FF95-BE6E-F6F8A1607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4F1A76-7BB2-AC22-F616-DA7362A2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37F73A-426F-A6DF-B54B-9EFDD58C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05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F3369-9C41-67EA-7337-5D2373FF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9065A9-3EF8-CA3E-638A-55C3D8536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8AB806-C820-5B28-9BA1-36EECFEEC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CA6A6B-213B-883B-33CF-8B5A646E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9F7BB6-047E-BEE8-60CB-DBDF90A9C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D069DF-A760-B8BE-461E-4BFE2F9A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353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FBDD2-C55D-8149-AC26-B37473C7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9EAAE3-C25B-7644-C8BB-025318B0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03AF65-EA51-A3A7-43C9-60BD758E9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BA770F-170D-3BCA-89C4-9209E5E59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18DB1E3-73CE-25CA-5A0E-7387EC5C2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57A9BA-E8C8-7FF6-ED7B-3F2FDD25D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0E8AFD1-6299-8D43-7822-A0A166BB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F490B4E-D028-CB6A-046E-03E97525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37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8935D-0444-52C2-F724-66F04FE4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6C89DD-D029-8D7A-7E90-90F19F1D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C25F94-F160-D9C8-6A4C-E4D418C9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06A0D9-08FD-82A9-EA18-3679FF4B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64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AE379E7-1C8E-137E-3DA9-8BF6002D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F60D70-8E7C-8405-6699-6D189F8B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21A9AE-66D0-7289-F81E-667DEF9B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53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B0864-4B20-807A-4CB7-C67BC990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8A8E53-52B6-5E3B-B4B6-77CE48593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FE9E0C-135C-6B38-9B68-16DD9F813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94E1CE-C23A-CEAF-DC49-0A91745B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E335F8-5072-739F-7B20-B6AC2474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92180B-C6AF-184D-1A32-17EE3BAF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23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CD4FE-A974-E5D6-393A-ABC16819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81C9976-E098-6C40-4563-FEF865DC1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6C79F6-7269-76AD-928E-57B959892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335BF3-6A13-5FDE-1B52-120C9D8F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52ADBB-F4A2-DA0D-10AD-ECE423133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E1C8A2-02F1-A48C-523F-FD6D6E22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40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F9EAF-1569-0FB3-6AA4-90484653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E5FA7-B72E-E699-016F-C8A21ABDC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BA6AB0-4B33-83E6-DB11-006CC5CC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27B3F-0CE4-34B4-BFCB-64BF4F46A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A877EC-DAD9-863A-8186-2449156D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98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2A1510-8D9E-F43F-85A9-D923D64CF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B22A1F-2255-F6E5-00E1-F6A204993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662CA0-59F6-0547-9F2D-C0B020E1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990B47-626D-1C9C-2F75-845FBF6E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24EB0C-D6AD-8467-311A-B2EAC6F7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32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07E957-16DD-BB42-6320-8FBF0D62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69B1FF-60DF-BF75-32AF-E26D2155F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076ED5-00DB-A78D-4567-BC3E687AB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62E06-D586-4E8E-818C-F79C19B0ECC6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04538B-7946-9E2A-C8A1-8B9A5ECD6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1AC523-8792-BC12-9DB1-0F0D47C16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C46D9-4F24-4533-8CFD-35012E98D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78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590/1806-9584-2023v31n17989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gehsch@yorku.c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mailto:janara.sousa@gmai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9BB86-A4B9-370E-24A4-68AF60983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accent1"/>
                </a:solidFill>
              </a:rPr>
              <a:t>Mestrado Profissional em Ciência Política e Relações Internacionais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DAA4AF-9553-A4F8-DB3D-EF0BF9A4C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solidFill>
                  <a:schemeClr val="accent1"/>
                </a:solidFill>
              </a:rPr>
              <a:t>Instituições Políticas: </a:t>
            </a:r>
            <a:r>
              <a:rPr lang="pt-BR" dirty="0" err="1">
                <a:solidFill>
                  <a:schemeClr val="accent1"/>
                </a:solidFill>
              </a:rPr>
              <a:t>Policy</a:t>
            </a:r>
            <a:r>
              <a:rPr lang="pt-BR" dirty="0">
                <a:solidFill>
                  <a:schemeClr val="accent1"/>
                </a:solidFill>
              </a:rPr>
              <a:t> Making, Agenda Setting e a Dinâmica dos Poderes na República</a:t>
            </a:r>
          </a:p>
          <a:p>
            <a:r>
              <a:rPr lang="pt-BR" dirty="0">
                <a:solidFill>
                  <a:schemeClr val="accent1"/>
                </a:solidFill>
              </a:rPr>
              <a:t>Professor Pablo Cesário</a:t>
            </a:r>
          </a:p>
          <a:p>
            <a:r>
              <a:rPr lang="pt-BR" dirty="0">
                <a:solidFill>
                  <a:schemeClr val="accent1"/>
                </a:solidFill>
              </a:rPr>
              <a:t>Mestrando Pedro P. </a:t>
            </a:r>
            <a:r>
              <a:rPr lang="pt-BR">
                <a:solidFill>
                  <a:schemeClr val="accent1"/>
                </a:solidFill>
              </a:rPr>
              <a:t>Henrichs </a:t>
            </a:r>
            <a:endParaRPr lang="pt-BR" dirty="0">
              <a:solidFill>
                <a:schemeClr val="accent1"/>
              </a:solidFill>
            </a:endParaRPr>
          </a:p>
          <a:p>
            <a:endParaRPr lang="pt-BR" dirty="0">
              <a:solidFill>
                <a:schemeClr val="accent1"/>
              </a:solidFill>
            </a:endParaRPr>
          </a:p>
          <a:p>
            <a:endParaRPr lang="pt-BR" dirty="0">
              <a:solidFill>
                <a:schemeClr val="accent1"/>
              </a:solidFill>
            </a:endParaRPr>
          </a:p>
          <a:p>
            <a:endParaRPr lang="pt-BR" dirty="0">
              <a:solidFill>
                <a:schemeClr val="accent1"/>
              </a:solidFill>
            </a:endParaRPr>
          </a:p>
          <a:p>
            <a:endParaRPr lang="pt-BR" dirty="0">
              <a:solidFill>
                <a:schemeClr val="accent1"/>
              </a:solidFill>
            </a:endParaRP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BE10203-178A-B33B-6743-7D37E838B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5585081"/>
            <a:ext cx="821608" cy="82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2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32303-1D31-D218-E59A-C092AF78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b="1" dirty="0">
                <a:solidFill>
                  <a:schemeClr val="accent1"/>
                </a:solidFill>
              </a:rPr>
              <a:t>Exercício 1 - Apresentação de texto relevante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4F4A4C-7448-01EC-9E0B-4355A0AA1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O texto </a:t>
            </a:r>
          </a:p>
          <a:p>
            <a:pPr marL="0" indent="0" algn="just">
              <a:buNone/>
            </a:pPr>
            <a:r>
              <a:rPr lang="pt-B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SCHEIDWEILER, G.; OLIVEIRA, A. C. S.; SOUSA, J. </a:t>
            </a:r>
            <a:r>
              <a:rPr lang="pt-BR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pt-B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L. L. "Mulheres Parlamentares e Representação Substantiva no Brasil". Revista Estudos Feministas, v. 31, </a:t>
            </a:r>
            <a:r>
              <a:rPr lang="pt-BR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pt-B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1, e79898, 2023. DOI: [10.1590/1806-9584-2023v31n179898](</a:t>
            </a:r>
            <a:r>
              <a:rPr lang="pt-BR" sz="18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https://doi.org/10.1590/1806-9584-2023v31n179898</a:t>
            </a:r>
            <a:r>
              <a:rPr lang="pt-B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). </a:t>
            </a:r>
            <a:endParaRPr lang="pt-BR" sz="2400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accent1"/>
                </a:solidFill>
              </a:rPr>
              <a:t>Declaração de disponibilidade de dados</a:t>
            </a:r>
          </a:p>
          <a:p>
            <a:pPr marL="0" indent="0" algn="just">
              <a:buNone/>
            </a:pPr>
            <a:r>
              <a:rPr lang="pt-BR" sz="2400" dirty="0"/>
              <a:t>SciELO </a:t>
            </a:r>
            <a:r>
              <a:rPr lang="pt-BR" sz="2400" dirty="0" err="1"/>
              <a:t>Dataverse</a:t>
            </a:r>
            <a:r>
              <a:rPr lang="pt-BR" sz="2400" dirty="0"/>
              <a:t> da </a:t>
            </a:r>
            <a:r>
              <a:rPr lang="pt-BR" sz="2400" i="1" dirty="0"/>
              <a:t>Revista Direito GV</a:t>
            </a:r>
            <a:r>
              <a:rPr lang="pt-BR" sz="2400" dirty="0"/>
              <a:t>, </a:t>
            </a:r>
            <a:r>
              <a:rPr lang="pt-BR" sz="2400" dirty="0" err="1"/>
              <a:t>lin</a:t>
            </a:r>
            <a:r>
              <a:rPr lang="pt-BR" sz="2400" dirty="0"/>
              <a:t>: </a:t>
            </a:r>
            <a:r>
              <a:rPr lang="pt-BR" sz="2400" dirty="0">
                <a:hlinkClick r:id="rId3"/>
              </a:rPr>
              <a:t>https://doi.org/10.1590/1806-9584-2023v31n179898</a:t>
            </a:r>
            <a:r>
              <a:rPr lang="pt-BR" sz="2400" dirty="0"/>
              <a:t>  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597423-0BF8-1059-CDB3-1801B5A09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7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4FDBD-5CD0-3638-67D9-66B22008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/>
              <a:t>Os autores são: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6C4143-FD91-C673-E097-6A2D94DE1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400" dirty="0">
                <a:solidFill>
                  <a:srgbClr val="141413"/>
                </a:solidFill>
                <a:effectLst/>
              </a:rPr>
              <a:t>Gerson </a:t>
            </a:r>
            <a:r>
              <a:rPr lang="pt-BR" sz="1400" dirty="0" err="1">
                <a:solidFill>
                  <a:srgbClr val="141413"/>
                </a:solidFill>
                <a:effectLst/>
              </a:rPr>
              <a:t>Scheidweiler</a:t>
            </a:r>
            <a:r>
              <a:rPr lang="pt-BR" sz="1400" dirty="0">
                <a:solidFill>
                  <a:srgbClr val="141413"/>
                </a:solidFill>
                <a:effectLst/>
              </a:rPr>
              <a:t> (</a:t>
            </a:r>
            <a:r>
              <a:rPr lang="pt-BR" sz="1400" dirty="0">
                <a:solidFill>
                  <a:srgbClr val="141413"/>
                </a:solidFill>
                <a:effectLst/>
                <a:hlinkClick r:id="rId3"/>
              </a:rPr>
              <a:t>gehsch@yorku.ca</a:t>
            </a:r>
            <a:r>
              <a:rPr lang="pt-BR" sz="1400" dirty="0">
                <a:solidFill>
                  <a:srgbClr val="141413"/>
                </a:solidFill>
                <a:effectLst/>
              </a:rPr>
              <a:t>; </a:t>
            </a:r>
            <a:r>
              <a:rPr lang="pt-BR" sz="1400" dirty="0" err="1">
                <a:solidFill>
                  <a:srgbClr val="141413"/>
                </a:solidFill>
                <a:effectLst/>
              </a:rPr>
              <a:t>geh.scheid@gmail.com</a:t>
            </a:r>
            <a:r>
              <a:rPr lang="pt-BR" sz="1400" dirty="0">
                <a:solidFill>
                  <a:srgbClr val="141413"/>
                </a:solidFill>
                <a:effectLst/>
              </a:rPr>
              <a:t>) é doutor em Comunicação pela Universidade de Brasília (UnB) e mestre em Comunicação pela mesma universidade. Foi servidor da Câmara dos Deputados por 12 anos, onde atuou junto à Secretaria da Mulher e à Bancada Feminina. É pesquisador de pós-doutorado do Departamento de Estudos de Equidade da York </a:t>
            </a:r>
            <a:r>
              <a:rPr lang="pt-BR" sz="1400" dirty="0" err="1">
                <a:solidFill>
                  <a:srgbClr val="141413"/>
                </a:solidFill>
                <a:effectLst/>
              </a:rPr>
              <a:t>University</a:t>
            </a:r>
            <a:r>
              <a:rPr lang="pt-BR" sz="1400" dirty="0">
                <a:solidFill>
                  <a:srgbClr val="141413"/>
                </a:solidFill>
                <a:effectLst/>
              </a:rPr>
              <a:t> (Canadá) e membro do Observatório Nacional da Mulher na Política (ONMP), da Câmara dos Deputados.</a:t>
            </a:r>
          </a:p>
          <a:p>
            <a:endParaRPr lang="pt-BR" sz="1400" dirty="0">
              <a:solidFill>
                <a:srgbClr val="141413"/>
              </a:solidFill>
            </a:endParaRPr>
          </a:p>
          <a:p>
            <a:r>
              <a:rPr lang="pt-BR" sz="1400" dirty="0">
                <a:solidFill>
                  <a:srgbClr val="141413"/>
                </a:solidFill>
                <a:effectLst/>
              </a:rPr>
              <a:t>Ana Cláudia Sousa Oliveira (</a:t>
            </a:r>
            <a:r>
              <a:rPr lang="pt-BR" sz="1400" dirty="0" err="1">
                <a:solidFill>
                  <a:srgbClr val="141413"/>
                </a:solidFill>
                <a:effectLst/>
              </a:rPr>
              <a:t>cso.ana@gmail.com</a:t>
            </a:r>
            <a:r>
              <a:rPr lang="pt-BR" sz="1400" dirty="0">
                <a:solidFill>
                  <a:srgbClr val="141413"/>
                </a:solidFill>
                <a:effectLst/>
              </a:rPr>
              <a:t>) é mestre em Igualdade e Gênero pela </a:t>
            </a:r>
            <a:r>
              <a:rPr lang="pt-BR" sz="1400" dirty="0" err="1">
                <a:solidFill>
                  <a:srgbClr val="141413"/>
                </a:solidFill>
                <a:effectLst/>
              </a:rPr>
              <a:t>Universidad</a:t>
            </a:r>
            <a:r>
              <a:rPr lang="pt-BR" sz="1400" dirty="0">
                <a:solidFill>
                  <a:srgbClr val="141413"/>
                </a:solidFill>
                <a:effectLst/>
              </a:rPr>
              <a:t> de Málaga/Espanha e Especialista em Parlamento e Direito pelo CEFOR/ Câmara dos Deputados. É servidora da Secretaria da Mulher da Câmara dos Deputados e coordenadora-geral de Pesquisa do Observatório Nacional da Mulher na Política (ONMP), da Câmara dos Deputados.</a:t>
            </a:r>
          </a:p>
          <a:p>
            <a:endParaRPr lang="pt-BR" sz="1400" dirty="0">
              <a:solidFill>
                <a:srgbClr val="141413"/>
              </a:solidFill>
            </a:endParaRPr>
          </a:p>
          <a:p>
            <a:r>
              <a:rPr lang="pt-BR" sz="1400" dirty="0" err="1">
                <a:solidFill>
                  <a:srgbClr val="141413"/>
                </a:solidFill>
                <a:effectLst/>
              </a:rPr>
              <a:t>Janara</a:t>
            </a:r>
            <a:r>
              <a:rPr lang="pt-BR" sz="1400" dirty="0">
                <a:solidFill>
                  <a:srgbClr val="141413"/>
                </a:solidFill>
                <a:effectLst/>
              </a:rPr>
              <a:t> </a:t>
            </a:r>
            <a:r>
              <a:rPr lang="pt-BR" sz="1400" dirty="0" err="1">
                <a:solidFill>
                  <a:srgbClr val="141413"/>
                </a:solidFill>
                <a:effectLst/>
              </a:rPr>
              <a:t>Kalline</a:t>
            </a:r>
            <a:r>
              <a:rPr lang="pt-BR" sz="1400" dirty="0">
                <a:solidFill>
                  <a:srgbClr val="141413"/>
                </a:solidFill>
                <a:effectLst/>
              </a:rPr>
              <a:t> Leal Lopes de Sousa (</a:t>
            </a:r>
            <a:r>
              <a:rPr lang="pt-BR" sz="1400" dirty="0" err="1">
                <a:solidFill>
                  <a:srgbClr val="141413"/>
                </a:solidFill>
                <a:effectLst/>
              </a:rPr>
              <a:t>janara.sousa@unb.br</a:t>
            </a:r>
            <a:r>
              <a:rPr lang="pt-BR" sz="1400" dirty="0">
                <a:solidFill>
                  <a:srgbClr val="141413"/>
                </a:solidFill>
                <a:effectLst/>
              </a:rPr>
              <a:t>; </a:t>
            </a:r>
            <a:r>
              <a:rPr lang="pt-BR" sz="1400" dirty="0">
                <a:solidFill>
                  <a:srgbClr val="141413"/>
                </a:solidFill>
                <a:effectLst/>
                <a:hlinkClick r:id="rId4"/>
              </a:rPr>
              <a:t>janara.sousa@gmail</a:t>
            </a:r>
            <a:r>
              <a:rPr lang="pt-BR" sz="1400" dirty="0">
                <a:solidFill>
                  <a:srgbClr val="141413"/>
                </a:solidFill>
                <a:effectLst/>
              </a:rPr>
              <a:t>. com) é graduada em jornalismo (2000) e mestre em Comunicação (2003) pela Universidade de Brasília (UnB). Fez Doutorado em Sociologia (2009), na linha de pesquisa Educação, Ciência e Tecnologia, também pela UnB, e, em 2008, fez estágio de doutoramento na </a:t>
            </a:r>
            <a:r>
              <a:rPr lang="pt-BR" sz="1400" dirty="0" err="1">
                <a:solidFill>
                  <a:srgbClr val="141413"/>
                </a:solidFill>
                <a:effectLst/>
              </a:rPr>
              <a:t>Universitat</a:t>
            </a:r>
            <a:r>
              <a:rPr lang="pt-BR" sz="1400" dirty="0">
                <a:solidFill>
                  <a:srgbClr val="141413"/>
                </a:solidFill>
                <a:effectLst/>
              </a:rPr>
              <a:t> de Barcelona, em Barcelona, na Espanha. Atualmente, é professora do curso de Comunicação Organizacional e da Faculdade de Comunicação da UnB.</a:t>
            </a:r>
          </a:p>
          <a:p>
            <a:pPr>
              <a:buNone/>
            </a:pPr>
            <a:endParaRPr lang="pt-BR" sz="1050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pPr>
              <a:buNone/>
            </a:pPr>
            <a:endParaRPr lang="pt-BR" sz="1400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67D9007-E489-A645-B446-7521AC1F8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3FA28-0E8A-58CE-68AC-E1C3E058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AF311-394F-4288-B826-EAEBC873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pt-BR" sz="3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 EMPODERAMENTO DAS MULHERES NO CONTEXTO UNIVERSITÁRIO: CAMINHOS PARA A IGUALDADE DE GÊNERO E DESENVOLVIMENTO SUSTENTÁVEL</a:t>
            </a:r>
            <a:r>
              <a:rPr lang="pt-BR" sz="3600" dirty="0">
                <a:effectLst/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FC8C5A-4A8D-111C-6B5D-851416DB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INTRODUÇÃO</a:t>
            </a:r>
            <a:r>
              <a:rPr lang="pt-BR" sz="1800" dirty="0">
                <a:effectLst/>
              </a:rPr>
              <a:t> </a:t>
            </a:r>
          </a:p>
          <a:p>
            <a:r>
              <a:rPr lang="pt-PT" sz="1800" dirty="0"/>
              <a:t>DESENVOLVIMENTO</a:t>
            </a:r>
          </a:p>
          <a:p>
            <a:r>
              <a:rPr lang="pt-PT" sz="1800" dirty="0">
                <a:effectLst/>
              </a:rPr>
              <a:t>CONCEITUAÇÃO DE TERMOS</a:t>
            </a:r>
          </a:p>
          <a:p>
            <a:r>
              <a:rPr lang="pt-PT" sz="1800" dirty="0"/>
              <a:t>CRECIMENTO ECONÓMICO</a:t>
            </a:r>
          </a:p>
          <a:p>
            <a:r>
              <a:rPr lang="pt-PT" sz="1800" dirty="0"/>
              <a:t>DESENVOLVIMENTO POLÍTICO BOA GOVERNAÇÃO</a:t>
            </a:r>
          </a:p>
          <a:p>
            <a:r>
              <a:rPr lang="pt-PT" sz="1800" dirty="0"/>
              <a:t>DESENVOLVIMENTO SOCIAL</a:t>
            </a:r>
          </a:p>
          <a:p>
            <a:r>
              <a:rPr lang="pt-PT" sz="1800" dirty="0"/>
              <a:t>PROTECAO DOS DIREITOS HUMANOS</a:t>
            </a:r>
          </a:p>
          <a:p>
            <a:r>
              <a:rPr lang="pt-PT" sz="1800" dirty="0"/>
              <a:t>PROTECAO DO MEIO AMBIENTE </a:t>
            </a:r>
          </a:p>
          <a:p>
            <a:r>
              <a:rPr lang="pt-PT" sz="1800" dirty="0"/>
              <a:t>DISCUCAO </a:t>
            </a:r>
          </a:p>
          <a:p>
            <a:r>
              <a:rPr lang="pt-PT" sz="1800" dirty="0"/>
              <a:t>CONCLUSAO</a:t>
            </a:r>
            <a:endParaRPr lang="pt-BR" sz="1800" dirty="0"/>
          </a:p>
          <a:p>
            <a:endParaRPr lang="pt-BR" sz="1800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endParaRPr lang="pt-BR" sz="2400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BE7DCBD-D64A-10FA-FD0D-3DF443F77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9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D756-F8B1-D785-E20F-165F8661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BD54D-CC5A-85EA-448F-EABBF783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 Empoderamento das Mulheres no Contexto Universitário: Caminhos para a Igualdade de Gênero e Desenvolvimento Sustentável</a:t>
            </a:r>
            <a:r>
              <a:rPr lang="pt-BR" sz="2800" dirty="0">
                <a:effectLst/>
              </a:rPr>
              <a:t> </a:t>
            </a:r>
            <a:endParaRPr lang="pt-BR" sz="28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E1A6D8-09C7-3886-3681-7ADA15A7F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pt-BR" sz="2000" b="1" dirty="0"/>
              <a:t>INTRODUÇÃO</a:t>
            </a:r>
            <a:endParaRPr lang="pt-BR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pt-BR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Teorias da representação política feminista.  </a:t>
            </a:r>
          </a:p>
          <a:p>
            <a:pPr lvl="0"/>
            <a:r>
              <a:rPr lang="pt-BR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Panorama histórico dos movimentos feministas no Brasil.  </a:t>
            </a:r>
          </a:p>
          <a:p>
            <a:pPr lvl="0"/>
            <a:r>
              <a:rPr lang="pt-BR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Metodologia da pesquisa documental.  </a:t>
            </a:r>
          </a:p>
          <a:p>
            <a:pPr lvl="0"/>
            <a:r>
              <a:rPr lang="pt-BR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Análise da performance legislativa das deputadas (dados quantitativos e qualitativos).  </a:t>
            </a:r>
          </a:p>
          <a:p>
            <a:pPr lvl="0"/>
            <a:r>
              <a:rPr lang="pt-BR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Confronto entre a atuação parlamentar e a agenda da AMB.  </a:t>
            </a:r>
          </a:p>
          <a:p>
            <a:pPr algn="just"/>
            <a:r>
              <a:rPr lang="pt-BR" sz="2000" dirty="0"/>
              <a:t>O artigo apresenta as análises: </a:t>
            </a:r>
            <a:r>
              <a:rPr lang="pt-BR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estrutura clara e objetiva, delineando o contexto, o problema de pesquisa e os objetivos do estudo.</a:t>
            </a:r>
            <a:r>
              <a:rPr lang="pt-BR" sz="2000" dirty="0">
                <a:effectLst/>
              </a:rPr>
              <a:t> </a:t>
            </a:r>
          </a:p>
          <a:p>
            <a:pPr algn="just"/>
            <a:r>
              <a:rPr lang="pt-BR" sz="2000" dirty="0"/>
              <a:t>“O objetivo é </a:t>
            </a:r>
            <a:r>
              <a:rPr lang="pt-BR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Analisar a qualidade da produção legislativa das deputadas e sua relação com a agenda da Articulação de Mulheres Brasileiras (AMB). </a:t>
            </a:r>
            <a:endParaRPr lang="pt-BR" sz="20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CD4BEE-4570-970C-B73E-C80BC43DD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43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F4626-B091-7414-8D76-F5A7CB33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60F09-0A85-B5BA-00C5-D5633274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Mulheres Parlamentares e Representação Substantiva no Brasil</a:t>
            </a:r>
            <a:endParaRPr lang="pt-BR" sz="36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FB070F-DCB3-C7D8-1B56-EE04DF01B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4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 DILEMA DA REPRESENTAÇÃO POLÍTICA</a:t>
            </a:r>
            <a:r>
              <a:rPr lang="pt-BR" sz="1200" dirty="0">
                <a:effectLst/>
              </a:rPr>
              <a:t> </a:t>
            </a:r>
            <a:endParaRPr lang="pt-BR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 artigo aborda o debate clássico sobre representação política a partir de duas perspectivas centrais:</a:t>
            </a:r>
          </a:p>
          <a:p>
            <a:pPr>
              <a:buNone/>
            </a:pPr>
            <a:r>
              <a:rPr lang="pt-BR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Representação descritiva (Phillips, 1995):  </a:t>
            </a:r>
          </a:p>
          <a:p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Defende que instituições políticas devem espelhar a composição social (ex.: cotas de gênero).  </a:t>
            </a:r>
          </a:p>
          <a:p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Baseia-se na ideia de que mulheres, por compartilharem experiências sociais similares, representariam melhor os interesses femininos.  </a:t>
            </a:r>
          </a:p>
          <a:p>
            <a:pPr>
              <a:buNone/>
            </a:pPr>
            <a:r>
              <a:rPr lang="pt-BR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Representação substantiva (</a:t>
            </a:r>
            <a:r>
              <a:rPr lang="pt-BR" sz="18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Pitkin</a:t>
            </a:r>
            <a:r>
              <a:rPr lang="pt-BR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1967):  </a:t>
            </a:r>
          </a:p>
          <a:p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Foca em ações (não apenas identidade): um representante age pelos interesses do grupo, independentemente de pertencer a ele.  </a:t>
            </a:r>
          </a:p>
          <a:p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Crítica: Representantes podem não priorizar pautas feministas mesmo sendo mulheres (ex.: deputadas conservadoras). 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F1CB2D-F007-3299-AE27-4F3E0DD72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7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F8D8-26DA-36DD-F4F5-C7A5D392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43658-572D-7C6B-5BFB-923CCA7D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effectLst/>
              </a:rPr>
              <a:t>MOVIMENTOS FEMINISTAS E MULHERES ELEITAS NO BRASIL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CC3B8D-04F3-40B9-964A-118019D9C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b="1" dirty="0">
                <a:solidFill>
                  <a:srgbClr val="141413"/>
                </a:solidFill>
                <a:effectLst/>
              </a:rPr>
              <a:t>ASPECTOS METODOLÓGICOS DA PESQUISA DOCUMENTAL</a:t>
            </a:r>
            <a:endParaRPr lang="pt-BR" sz="1800" b="1" dirty="0">
              <a:effectLst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Desenho da Pesquisa O estudo adota uma abordagem mista (qualitativa e quantitativa) para analisar a produção legislativa das deputadas federais brasileiras, com foco na 55ª Legislatura (2015-2017). 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Período escolhido: </a:t>
            </a:r>
          </a:p>
          <a:p>
            <a:pPr marL="0" indent="0">
              <a:buNone/>
            </a:pPr>
            <a:r>
              <a:rPr lang="pt-BR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Exclui 2018 por ser ano eleitoral, quando a atividade legislativa é reduzida. 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Fonte primária: </a:t>
            </a:r>
          </a:p>
          <a:p>
            <a:pPr marL="0" indent="0">
              <a:buNone/>
            </a:pPr>
            <a:r>
              <a:rPr lang="pt-BR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10.753 proposições legislativas da Câmara dos Deputados, incluindo:  </a:t>
            </a:r>
          </a:p>
          <a:p>
            <a:pPr marL="0" indent="0">
              <a:buNone/>
            </a:pPr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Projetos de lei (PL)  </a:t>
            </a:r>
          </a:p>
          <a:p>
            <a:pPr marL="0" indent="0">
              <a:buNone/>
            </a:pPr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Propostas de Emenda à Constituição (PEC)  </a:t>
            </a:r>
          </a:p>
          <a:p>
            <a:pPr marL="0" indent="0">
              <a:buNone/>
            </a:pPr>
            <a:r>
              <a:rPr lang="pt-BR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Projetos de Decreto Legislativo (PDL)  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11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9193EC-F88D-B2B9-CF5F-8D87FC8D5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929747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69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5CD32-D804-0C15-34D4-E661601F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5107F-3421-5026-4412-3F9DB5D5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effectLst/>
              </a:rPr>
              <a:t>MOVIMENTOS FEMINISTAS E MULHERES ELEITAS NO BRASIL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938C60-7E14-A995-A146-01B89F57B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effectLst/>
              </a:rPr>
              <a:t>MOVIMENTOS FEMINISTAS E MULHERES ELEITAS NO BRASIL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artigo traça um panorama da relação entre movimentos feministas e a participação política institucional no Brasil, destacando: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Raízes materialistas: Os movimentos feministas surgem da crítica às estruturas patriarcais e capitalistas, questionando a universalidade dos direitos humanos (Biroli, 2018).  </a:t>
            </a:r>
          </a:p>
          <a:p>
            <a:pPr marL="0" indent="0">
              <a:buNone/>
            </a:pP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Estratégias de atuação (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Sapiro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1981): 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- Pressão convencional: Lobby, participação eleitoral, ações judiciais. 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- Pressão não convencional: Protestos e ações simbólicas.  </a:t>
            </a:r>
          </a:p>
          <a:p>
            <a:pPr marL="0" indent="0">
              <a:buNone/>
            </a:pP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Conscientização: Mobilização interna para formar identidade coletiva. 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FC2351-DD53-5F9F-51F4-5BF3068E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59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CE7A-3120-7BC1-3896-CF538343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D7E-7F7E-3811-C0A6-0C4FF129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dirty="0">
                <a:effectLst/>
              </a:rPr>
              <a:t>MOVIMENTOS FEMINISTAS E MULHERES ELEITAS NO BRASIL</a:t>
            </a:r>
            <a:endParaRPr lang="pt-BR" sz="3600" b="1" dirty="0">
              <a:solidFill>
                <a:schemeClr val="accent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446445-86F1-2CB9-EA2A-E4D819C77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1600" b="1" dirty="0">
                <a:effectLst/>
              </a:rPr>
              <a:t>A PERFORMANCE PARLAMENTAR DAS DEPUTADAS FEDERAIS NA 55ªLEGISLATURA</a:t>
            </a:r>
          </a:p>
          <a:p>
            <a:pPr marL="0" indent="0">
              <a:buNone/>
            </a:pPr>
            <a:endParaRPr lang="pt-BR" sz="1600" b="1" dirty="0">
              <a:effectLst/>
            </a:endParaRPr>
          </a:p>
          <a:p>
            <a:pPr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Eficácia Legislativa por Gênero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Situação                                 Mulheres            Homens  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Transformadas em lei      1,31%                   0,43%  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 tramitação                     89,89%                90,80%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Arquivadas                       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Temas Prioritários por Gênero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Área Temática                                 Mulheres            Homens 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</a:p>
          <a:p>
            <a:pPr>
              <a:buNone/>
            </a:pPr>
            <a:r>
              <a:rPr lang="pt-BR" sz="1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Direito penal e segurança           19,59%                 18,80%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Economia e finanças                     16,82%                 17,54% 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Direitos humanos e minorias</a:t>
            </a:r>
            <a:r>
              <a:rPr lang="pt-BR" sz="1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16,51%                 6,54%   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Saúde                                                     5,49%                   1,73%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4,68%                   5,02% 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2B7B78-3AF9-C30F-C8E3-458A90067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9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16932-F29D-4C4F-FBBB-97D3656B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09CEA-0C97-400F-49D8-F0EB3905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dirty="0">
                <a:effectLst/>
              </a:rPr>
              <a:t>MOVIMENTOS FEMINISTAS E MULHERES ELEITAS NO BRASIL</a:t>
            </a:r>
            <a:endParaRPr lang="pt-BR" sz="3600" b="1" dirty="0">
              <a:solidFill>
                <a:schemeClr val="accent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476F22-797D-8A67-C7B7-5917B8CFA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>
                <a:effectLst/>
              </a:rPr>
              <a:t>A PERFORMANCE PARLAMENTAR DAS DEPUTADAS FEDERAIS NA 55ªLEGISLATURA</a:t>
            </a:r>
          </a:p>
          <a:p>
            <a:pPr marL="0" indent="0">
              <a:buNone/>
            </a:pPr>
            <a:endParaRPr lang="pt-BR" sz="1600" b="1" dirty="0"/>
          </a:p>
          <a:p>
            <a:pPr>
              <a:buNone/>
            </a:pPr>
            <a:r>
              <a:rPr lang="pt-BR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Diferenças no Direito Penal</a:t>
            </a:r>
            <a:endParaRPr lang="pt-BR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pt-BR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Mulheres:</a:t>
            </a:r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Termos como "Lei Maria da Penha" (8,1%), "violência doméstica" (2,6%).  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pt-BR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Homens:</a:t>
            </a:r>
            <a:r>
              <a:rPr lang="pt-BR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Termos como "arma de fogo" (2,9%), "policial militar" (2,1%). </a:t>
            </a:r>
          </a:p>
          <a:p>
            <a:pPr marL="0" indent="0">
              <a:buNone/>
            </a:pPr>
            <a:endParaRPr lang="pt-BR" sz="1800" b="1" dirty="0"/>
          </a:p>
          <a:p>
            <a:pPr marL="0" indent="0">
              <a:buNone/>
            </a:pPr>
            <a:r>
              <a:rPr lang="pt-BR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Quadro 1</a:t>
            </a:r>
            <a:r>
              <a:rPr lang="pt-BR" sz="1800" dirty="0">
                <a:effectLst/>
              </a:rPr>
              <a:t> (</a:t>
            </a:r>
            <a:r>
              <a:rPr lang="pt-BR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As deputadas foram 3 vezes mais eficazes na conversão de proposições em leis</a:t>
            </a:r>
            <a:r>
              <a:rPr lang="pt-BR" sz="1800" dirty="0">
                <a:effectLst/>
              </a:rPr>
              <a:t> ).    </a:t>
            </a:r>
          </a:p>
          <a:p>
            <a:pPr marL="0" indent="0">
              <a:buNone/>
            </a:pPr>
            <a:r>
              <a:rPr lang="pt-BR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Quadro</a:t>
            </a:r>
            <a:r>
              <a:rPr lang="pt-BR" sz="1800" dirty="0">
                <a:effectLst/>
              </a:rPr>
              <a:t> </a:t>
            </a:r>
            <a:r>
              <a:rPr lang="pt-BR" sz="1800" dirty="0"/>
              <a:t>2 (</a:t>
            </a:r>
            <a:r>
              <a:rPr lang="pt-BR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Saúde: 5.49% (mulheres) </a:t>
            </a:r>
            <a:r>
              <a:rPr lang="pt-BR" sz="18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vs</a:t>
            </a:r>
            <a:r>
              <a:rPr lang="pt-BR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1.73% (homens)).</a:t>
            </a:r>
            <a:r>
              <a:rPr lang="pt-BR" sz="1800" dirty="0">
                <a:effectLst/>
              </a:rPr>
              <a:t> </a:t>
            </a:r>
          </a:p>
          <a:p>
            <a:pPr marL="0" indent="0">
              <a:buNone/>
            </a:pPr>
            <a:r>
              <a:rPr lang="pt-BR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Quadro 3</a:t>
            </a:r>
            <a:r>
              <a:rPr lang="pt-BR" sz="1800" dirty="0">
                <a:effectLst/>
              </a:rPr>
              <a:t> </a:t>
            </a:r>
            <a:r>
              <a:rPr lang="pt-BR" sz="1800" dirty="0"/>
              <a:t> (</a:t>
            </a:r>
            <a:r>
              <a:rPr lang="pt-BR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Enquanto mulheres focam em violência de gênero, homens priorizam segurança pública tradicional).</a:t>
            </a:r>
            <a:r>
              <a:rPr lang="pt-BR" sz="1800" dirty="0">
                <a:effectLst/>
              </a:rPr>
              <a:t> </a:t>
            </a:r>
          </a:p>
          <a:p>
            <a:pPr marL="0" indent="0">
              <a:buNone/>
            </a:pPr>
            <a:endParaRPr lang="pt-BR" sz="1600" b="1" dirty="0">
              <a:effectLst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695E4C-ED5B-F289-CA6D-FEA117928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10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DB324-4844-7C65-F1B0-84631651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8D80C-ACCD-2575-2513-631385D1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dirty="0">
                <a:effectLst/>
              </a:rPr>
              <a:t>MOVIMENTOS FEMINISTAS E MULHERES ELEITAS NO BRASIL</a:t>
            </a:r>
            <a:endParaRPr lang="pt-BR" sz="3600" b="1" dirty="0">
              <a:solidFill>
                <a:schemeClr val="accent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DC85CB-379C-A0ED-91CD-39143BD01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b="1" dirty="0">
                <a:effectLst/>
              </a:rPr>
              <a:t>ADERÊNCIA TEMÁTICA À PAUTA DA PLENÁRIA NACIONAL DA ARTICULAÇÃODE MULHERES BRASILEIRAS</a:t>
            </a:r>
          </a:p>
          <a:p>
            <a:pPr marL="0" indent="0">
              <a:buNone/>
            </a:pPr>
            <a:endParaRPr lang="pt-BR" dirty="0"/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AMB (2017) definiu três prioridades: </a:t>
            </a:r>
          </a:p>
          <a:p>
            <a:pPr>
              <a:buNone/>
            </a:pP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Combate à "ideologia de gênero":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Pouca aderência legislativa (nenhum projeto específico).  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Aumento de mulheres na política: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Bancada feminina atuou via PEC 134/2015 (cotas) e ações judiciais (30% de recursos para campanhas femininas).  </a:t>
            </a:r>
          </a:p>
          <a:p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Interseccionalidade: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Parcialmente atendida (16,51% das proposições femininas trataram de direitos humanos/minorias).  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A0F413-E315-5477-77EA-8B168AE87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17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A825-81BB-CACA-0578-D2FCF65A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C9188-B1E2-FCF7-BAF7-3BDD9CBF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600" dirty="0">
                <a:effectLst/>
              </a:rPr>
              <a:t>MOVIMENTOS FEMINISTAS E MULHERES ELEITAS NO BRASIL</a:t>
            </a:r>
            <a:endParaRPr lang="pt-BR" sz="3600" b="1" dirty="0">
              <a:solidFill>
                <a:schemeClr val="accent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121D36-72D8-A6A0-C5D6-89918E257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>
                <a:effectLst/>
              </a:rPr>
              <a:t>CONSIDERAÇÕES FINAIS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Eficácia feminina: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Mulheres são 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mais produtivas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legislativamente, mas ainda minoria.  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Substantividade limitada: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Priorizam pautas feministas (ex.: violência de gênero), mas com divergências ideológicas (conservadoras vs. progressistas).  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Desafios: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Fortalecer vínculos entre movimentos feministas e parlamentares. 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Reformar o sistema eleitoral (lista fechada, fiscalização de cotas). 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Ampliar pesquisas sobre desempenho legislativo em contextos interseccionais.  </a:t>
            </a:r>
          </a:p>
          <a:p>
            <a:pPr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Nota final: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artigo evidencia avanços na representação substantiva, mas ressalta a necessidade de 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maior articulação entre ativismo e institucionalidade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transformações profundas.  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DDB5D1-3193-9C1F-FE5E-03C103E17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66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B5165-7DA0-2579-DF53-B1A7DC30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0CE9A7-43D5-3D82-F548-31DF4727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4800" b="1" dirty="0"/>
              <a:t>F I M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DEA483-CE88-EC72-FB83-AF255B220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755" y="5412658"/>
            <a:ext cx="764305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444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18263</TotalTime>
  <Words>1257</Words>
  <Application>Microsoft Macintosh PowerPoint</Application>
  <PresentationFormat>Widescreen</PresentationFormat>
  <Paragraphs>124</Paragraphs>
  <Slides>13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Helvetica</vt:lpstr>
      <vt:lpstr>Symbol</vt:lpstr>
      <vt:lpstr>Tema do Office</vt:lpstr>
      <vt:lpstr>Mestrado Profissional em Ciência Política e Relações Internacionais</vt:lpstr>
      <vt:lpstr>Exercício 1 - Apresentação de texto relevante</vt:lpstr>
      <vt:lpstr>Os autores são: </vt:lpstr>
      <vt:lpstr>O EMPODERAMENTO DAS MULHERES NO CONTEXTO UNIVERSITÁRIO: CAMINHOS PARA A IGUALDADE DE GÊNERO E DESENVOLVIMENTO SUSTENTÁVEL </vt:lpstr>
      <vt:lpstr>O Empoderamento das Mulheres no Contexto Universitário: Caminhos para a Igualdade de Gênero e Desenvolvimento Sustentável </vt:lpstr>
      <vt:lpstr>Mulheres Parlamentares e Representação Substantiva no Brasil</vt:lpstr>
      <vt:lpstr>MOVIMENTOS FEMINISTAS E MULHERES ELEITAS NO BRASIL</vt:lpstr>
      <vt:lpstr>MOVIMENTOS FEMINISTAS E MULHERES ELEITAS NO BRASIL</vt:lpstr>
      <vt:lpstr>MOVIMENTOS FEMINISTAS E MULHERES ELEITAS NO BRASIL</vt:lpstr>
      <vt:lpstr>MOVIMENTOS FEMINISTAS E MULHERES ELEITAS NO BRASIL</vt:lpstr>
      <vt:lpstr>MOVIMENTOS FEMINISTAS E MULHERES ELEITAS NO BRASIL</vt:lpstr>
      <vt:lpstr>MOVIMENTOS FEMINISTAS E MULHERES ELEITAS NO BRASIL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Mestrado Profissional em Ciência Política e Relações Internacionais</dc:title>
  <dc:creator>Dalton Cordeiro de Miranda</dc:creator>
  <cp:lastModifiedBy>Pedro henrichs</cp:lastModifiedBy>
  <cp:revision>9</cp:revision>
  <dcterms:created xsi:type="dcterms:W3CDTF">2025-03-23T14:54:17Z</dcterms:created>
  <dcterms:modified xsi:type="dcterms:W3CDTF">2025-05-01T22:03:13Z</dcterms:modified>
</cp:coreProperties>
</file>